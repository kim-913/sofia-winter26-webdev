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46720" cy="6858000"/>
          </a:xfrm>
          <a:prstGeom prst="rect">
            <a:avLst/>
          </a:prstGeom>
          <a:solidFill>
            <a:srgbClr val="8B7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097280"/>
            <a:ext cx="4572000" cy="4572000"/>
          </a:xfrm>
          <a:prstGeom prst="ellipse">
            <a:avLst/>
          </a:prstGeom>
          <a:solidFill>
            <a:srgbClr val="7A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760720" y="4572000"/>
            <a:ext cx="2377440" cy="2377440"/>
          </a:xfrm>
          <a:prstGeom prst="ellipse">
            <a:avLst/>
          </a:prstGeom>
          <a:solidFill>
            <a:srgbClr val="7A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274320" y="5577840"/>
            <a:ext cx="1280160" cy="1280160"/>
          </a:xfrm>
          <a:prstGeom prst="ellipse">
            <a:avLst/>
          </a:prstGeom>
          <a:solidFill>
            <a:srgbClr val="F4C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0" y="274320"/>
            <a:ext cx="2743200" cy="2743200"/>
          </a:xfrm>
          <a:prstGeom prst="ellipse">
            <a:avLst/>
          </a:prstGeom>
          <a:solidFill>
            <a:srgbClr val="EC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07040" y="4206240"/>
            <a:ext cx="1645920" cy="1645920"/>
          </a:xfrm>
          <a:prstGeom prst="ellipse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41080" y="5440680"/>
            <a:ext cx="822960" cy="822960"/>
          </a:xfrm>
          <a:prstGeom prst="ellipse">
            <a:avLst/>
          </a:prstGeom>
          <a:solidFill>
            <a:srgbClr val="B8E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48640"/>
            <a:ext cx="731520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00" b="1" i="0">
                <a:solidFill>
                  <a:srgbClr val="FFFFFF"/>
                </a:solidFill>
              </a:rPr>
              <a:t>Bubble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84831"/>
            <a:ext cx="731520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00" b="1" i="0">
                <a:solidFill>
                  <a:srgbClr val="F4C7D6"/>
                </a:solidFill>
              </a:rPr>
              <a:t>Bliss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0896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E0D8FF"/>
                </a:solidFill>
              </a:rPr>
              <a:t>Your Daily Dose of Happiness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703320"/>
            <a:ext cx="3657600" cy="36576"/>
          </a:xfrm>
          <a:prstGeom prst="rect">
            <a:avLst/>
          </a:prstGeom>
          <a:solidFill>
            <a:srgbClr val="F4C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88620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Kim 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07408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0FF"/>
                </a:solidFill>
              </a:rPr>
              <a:t>Sofia University  ·  Web Development  ·  Winter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2803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98DD"/>
                </a:solidFill>
              </a:rPr>
              <a:t>March 22,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2467A"/>
                </a:solidFill>
              </a:rPr>
              <a:t>5 pages · 3 JS files · 0 frameworks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3774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C2C2C"/>
                </a:solidFill>
              </a:rPr>
              <a:t>HTML5 · CSS3 · ES6+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85292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</a:rPr>
              <a:t>Vanilla. No frameworks.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4C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"/>
            <a:ext cx="12188952" cy="1367028"/>
          </a:xfrm>
          <a:prstGeom prst="rect">
            <a:avLst/>
          </a:prstGeom>
          <a:solidFill>
            <a:srgbClr val="8B7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Design &amp; Planning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04672"/>
            <a:ext cx="1531620" cy="237744"/>
          </a:xfrm>
          <a:prstGeom prst="rect">
            <a:avLst/>
          </a:prstGeom>
          <a:solidFill>
            <a:srgbClr val="F4C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52467A"/>
                </a:solidFill>
              </a:rPr>
              <a:t>Week 1 · 15 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4C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36192"/>
            <a:ext cx="3749039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D4C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36192"/>
            <a:ext cx="54864" cy="4864608"/>
          </a:xfrm>
          <a:prstGeom prst="rect">
            <a:avLst/>
          </a:prstGeom>
          <a:solidFill>
            <a:srgbClr val="8B7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66420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2467A"/>
                </a:solidFill>
              </a:rPr>
              <a:t>Target Audience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0312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2C2C2C"/>
                </a:solidFill>
              </a:rPr>
              <a:t>•  Students &amp; young professionals, 18–30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C2C2C"/>
                </a:solidFill>
              </a:rPr>
              <a:t>•  Boba enthusiasts in Palo Alto &amp; Costa Mesa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C2C2C"/>
                </a:solidFill>
              </a:rPr>
              <a:t>•  Mobile-first — ordering on the go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C2C2C"/>
                </a:solidFill>
              </a:rPr>
              <a:t>•  Keyboard + screen reader 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0050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2467A"/>
                </a:solidFill>
              </a:rPr>
              <a:t>Design Principles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43484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2C2C2C"/>
                </a:solidFill>
              </a:rPr>
              <a:t>•  Repetition — shared header/footer/cards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C2C2C"/>
                </a:solidFill>
              </a:rPr>
              <a:t>•  Contrast — purple on cream, 4.5:1+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C2C2C"/>
                </a:solidFill>
              </a:rPr>
              <a:t>•  Alignment — left-anchored, grid-based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C2C2C"/>
                </a:solidFill>
              </a:rPr>
              <a:t>•  Proximity — related items in card groups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70832" y="1536192"/>
            <a:ext cx="3611880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D4C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536192"/>
            <a:ext cx="54864" cy="4864608"/>
          </a:xfrm>
          <a:prstGeom prst="rect">
            <a:avLst/>
          </a:prstGeom>
          <a:solidFill>
            <a:srgbClr val="2A7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166420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A7A58"/>
                </a:solidFill>
              </a:rPr>
              <a:t>Information Architecture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240280"/>
            <a:ext cx="1463040" cy="347472"/>
          </a:xfrm>
          <a:prstGeom prst="rect">
            <a:avLst/>
          </a:prstGeom>
          <a:solidFill>
            <a:srgbClr val="8B7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258568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Home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34456" y="2587752"/>
            <a:ext cx="27432" cy="292608"/>
          </a:xfrm>
          <a:prstGeom prst="rect">
            <a:avLst/>
          </a:prstGeom>
          <a:solidFill>
            <a:srgbClr val="D4C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53712" y="2880360"/>
            <a:ext cx="3200400" cy="27432"/>
          </a:xfrm>
          <a:prstGeom prst="rect">
            <a:avLst/>
          </a:prstGeom>
          <a:solidFill>
            <a:srgbClr val="D4C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46320" y="2880360"/>
            <a:ext cx="27432" cy="256032"/>
          </a:xfrm>
          <a:prstGeom prst="rect">
            <a:avLst/>
          </a:prstGeom>
          <a:solidFill>
            <a:srgbClr val="D4C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53712" y="3136392"/>
            <a:ext cx="850392" cy="320040"/>
          </a:xfrm>
          <a:prstGeom prst="rect">
            <a:avLst/>
          </a:prstGeom>
          <a:solidFill>
            <a:srgbClr val="D4CEED"/>
          </a:solidFill>
          <a:ln w="6350">
            <a:solidFill>
              <a:srgbClr val="8B7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81144" y="3154680"/>
            <a:ext cx="795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2467A"/>
                </a:solidFill>
              </a:rPr>
              <a:t>Menu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32120" y="2880360"/>
            <a:ext cx="27432" cy="256032"/>
          </a:xfrm>
          <a:prstGeom prst="rect">
            <a:avLst/>
          </a:prstGeom>
          <a:solidFill>
            <a:srgbClr val="D4C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39512" y="3136392"/>
            <a:ext cx="850392" cy="320040"/>
          </a:xfrm>
          <a:prstGeom prst="rect">
            <a:avLst/>
          </a:prstGeom>
          <a:solidFill>
            <a:srgbClr val="D4CEED"/>
          </a:solidFill>
          <a:ln w="6350">
            <a:solidFill>
              <a:srgbClr val="8B7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66944" y="3154680"/>
            <a:ext cx="795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2467A"/>
                </a:solidFill>
              </a:rPr>
              <a:t>About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880360"/>
            <a:ext cx="27432" cy="256032"/>
          </a:xfrm>
          <a:prstGeom prst="rect">
            <a:avLst/>
          </a:prstGeom>
          <a:solidFill>
            <a:srgbClr val="D4C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25312" y="3136392"/>
            <a:ext cx="850392" cy="320040"/>
          </a:xfrm>
          <a:prstGeom prst="rect">
            <a:avLst/>
          </a:prstGeom>
          <a:solidFill>
            <a:srgbClr val="D4CEED"/>
          </a:solidFill>
          <a:ln w="6350">
            <a:solidFill>
              <a:srgbClr val="8B7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52744" y="3154680"/>
            <a:ext cx="795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2467A"/>
                </a:solidFill>
              </a:rPr>
              <a:t>Locs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03136" y="2880360"/>
            <a:ext cx="27432" cy="256032"/>
          </a:xfrm>
          <a:prstGeom prst="rect">
            <a:avLst/>
          </a:prstGeom>
          <a:solidFill>
            <a:srgbClr val="D4C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10528" y="3136392"/>
            <a:ext cx="850392" cy="320040"/>
          </a:xfrm>
          <a:prstGeom prst="rect">
            <a:avLst/>
          </a:prstGeom>
          <a:solidFill>
            <a:srgbClr val="D4CEED"/>
          </a:solidFill>
          <a:ln w="6350">
            <a:solidFill>
              <a:srgbClr val="8B7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3154680"/>
            <a:ext cx="795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2467A"/>
                </a:solidFill>
              </a:rPr>
              <a:t>Contact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53712" y="3675887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</a:rPr>
              <a:t>Flat hierarchy — all pages from nav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53712" y="416052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A7A58"/>
                </a:solidFill>
              </a:rPr>
              <a:t>Navigation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4553712"/>
            <a:ext cx="3246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C2C2C"/>
                </a:solidFill>
              </a:rPr>
              <a:t>•  Semantic &lt;nav&gt; with aria-label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2C2C"/>
                </a:solidFill>
              </a:rPr>
              <a:t>•  Active page: aria-current='page'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2C2C"/>
                </a:solidFill>
              </a:rPr>
              <a:t>•  Skip-to-content link (every page)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2C2C"/>
                </a:solidFill>
              </a:rPr>
              <a:t>•  Hamburger: aria-expanded on toggle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47304" y="1536192"/>
            <a:ext cx="3611880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D4C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47304" y="1536192"/>
            <a:ext cx="54864" cy="4864608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0183" y="166420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06800"/>
                </a:solidFill>
              </a:rPr>
              <a:t>Design System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30183" y="2103120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2C2C"/>
                </a:solidFill>
              </a:rPr>
              <a:t>CSS Custom Properties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30183" y="2487168"/>
            <a:ext cx="384048" cy="274320"/>
          </a:xfrm>
          <a:prstGeom prst="rect">
            <a:avLst/>
          </a:prstGeom>
          <a:solidFill>
            <a:srgbClr val="8B7BB5"/>
          </a:solidFill>
          <a:ln w="6350">
            <a:solidFill>
              <a:srgbClr val="CC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87384" y="24871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</a:rPr>
              <a:t>#8B7BB5  Brand primary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30183" y="2871216"/>
            <a:ext cx="384048" cy="274320"/>
          </a:xfrm>
          <a:prstGeom prst="rect">
            <a:avLst/>
          </a:prstGeom>
          <a:solidFill>
            <a:srgbClr val="F4C7D6"/>
          </a:solidFill>
          <a:ln w="6350">
            <a:solidFill>
              <a:srgbClr val="CC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87384" y="287121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</a:rPr>
              <a:t>#F4C7D6  Accents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30183" y="3255264"/>
            <a:ext cx="384048" cy="274320"/>
          </a:xfrm>
          <a:prstGeom prst="rect">
            <a:avLst/>
          </a:prstGeom>
          <a:solidFill>
            <a:srgbClr val="B8E6D5"/>
          </a:solidFill>
          <a:ln w="6350">
            <a:solidFill>
              <a:srgbClr val="CC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87384" y="325526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</a:rPr>
              <a:t>#B8E6D5  Success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30183" y="3639312"/>
            <a:ext cx="384048" cy="274320"/>
          </a:xfrm>
          <a:prstGeom prst="rect">
            <a:avLst/>
          </a:prstGeom>
          <a:solidFill>
            <a:srgbClr val="FFCC99"/>
          </a:solidFill>
          <a:ln w="6350">
            <a:solidFill>
              <a:srgbClr val="CC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87384" y="36393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</a:rPr>
              <a:t>#FFCC99  Badges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30183" y="4023360"/>
            <a:ext cx="384048" cy="274320"/>
          </a:xfrm>
          <a:prstGeom prst="rect">
            <a:avLst/>
          </a:prstGeom>
          <a:solidFill>
            <a:srgbClr val="2C2C2C"/>
          </a:solidFill>
          <a:ln w="6350">
            <a:solidFill>
              <a:srgbClr val="CC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87384" y="4023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</a:rPr>
              <a:t>#2C2C2C  Body text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30183" y="4462272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2C2C"/>
                </a:solidFill>
              </a:rPr>
              <a:t>Typography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30183" y="4828032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</a:rPr>
              <a:t>Georgia serif  /  Arial sans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30183" y="5166360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</a:rPr>
              <a:t>Spacing: 8 · 16 · 24 · 32 · 48 · 64 px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30183" y="5504688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</a:rPr>
              <a:t>Breakpoints: 480 · 768 · 1024 px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0023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4C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"/>
            <a:ext cx="12188952" cy="1367028"/>
          </a:xfrm>
          <a:prstGeom prst="rect">
            <a:avLst/>
          </a:prstGeom>
          <a:solidFill>
            <a:srgbClr val="8B7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Layout &amp; Responsiveness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04672"/>
            <a:ext cx="1531620" cy="237744"/>
          </a:xfrm>
          <a:prstGeom prst="rect">
            <a:avLst/>
          </a:prstGeom>
          <a:solidFill>
            <a:srgbClr val="F4C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52467A"/>
                </a:solidFill>
              </a:rPr>
              <a:t>Week 2 · 25 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4C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36192"/>
            <a:ext cx="5623560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D4C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36192"/>
            <a:ext cx="54864" cy="1591056"/>
          </a:xfrm>
          <a:prstGeom prst="rect">
            <a:avLst/>
          </a:prstGeom>
          <a:solidFill>
            <a:srgbClr val="8B7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27632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2C2C"/>
                </a:solidFill>
              </a:rPr>
              <a:t>Semantic 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48256"/>
            <a:ext cx="5257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>
                <a:solidFill>
                  <a:srgbClr val="2C2C2C"/>
                </a:solidFill>
              </a:rPr>
              <a:t>•  header · nav · main · section · article · footer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C2C2C"/>
                </a:solidFill>
              </a:rPr>
              <a:t>•  table: caption + scope='col/row'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C2C2C"/>
                </a:solidFill>
              </a:rPr>
              <a:t>•  form: fieldset + legend + label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27648" y="1536192"/>
            <a:ext cx="5623560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D4C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27648" y="1536192"/>
            <a:ext cx="54864" cy="1591056"/>
          </a:xfrm>
          <a:prstGeom prst="rect">
            <a:avLst/>
          </a:prstGeom>
          <a:solidFill>
            <a:srgbClr val="2A7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1627632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2C2C"/>
                </a:solidFill>
              </a:rPr>
              <a:t>CSS Box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048256"/>
            <a:ext cx="5257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>
                <a:solidFill>
                  <a:srgbClr val="2C2C2C"/>
                </a:solidFill>
              </a:rPr>
              <a:t>•  box-sizing: border-box — global reset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C2C2C"/>
                </a:solidFill>
              </a:rPr>
              <a:t>•  Spacing via tokens (--space-1 → --space-6)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C2C2C"/>
                </a:solidFill>
              </a:rPr>
              <a:t>•  No magic pixel values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55263"/>
            <a:ext cx="5623560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D4C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255263"/>
            <a:ext cx="54864" cy="1591056"/>
          </a:xfrm>
          <a:prstGeom prst="rect">
            <a:avLst/>
          </a:prstGeom>
          <a:solidFill>
            <a:srgbClr val="8B7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346703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2C2C"/>
                </a:solidFill>
              </a:rPr>
              <a:t>Flexbox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767327"/>
            <a:ext cx="5257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>
                <a:solidFill>
                  <a:srgbClr val="2C2C2C"/>
                </a:solidFill>
              </a:rPr>
              <a:t>•  Nav links · hero · form buttons · footer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C2C2C"/>
                </a:solidFill>
              </a:rPr>
              <a:t>•  Location cards side-by-side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C2C2C"/>
                </a:solidFill>
              </a:rPr>
              <a:t>•  Vertical centering throughout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27648" y="3255263"/>
            <a:ext cx="5623560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D4C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27648" y="3255263"/>
            <a:ext cx="54864" cy="1591056"/>
          </a:xfrm>
          <a:prstGeom prst="rect">
            <a:avLst/>
          </a:prstGeom>
          <a:solidFill>
            <a:srgbClr val="2A7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3346703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2C2C"/>
                </a:solidFill>
              </a:rPr>
              <a:t>CSS Grid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3767327"/>
            <a:ext cx="5257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>
                <a:solidFill>
                  <a:srgbClr val="2C2C2C"/>
                </a:solidFill>
              </a:rPr>
              <a:t>•  Menu: auto-fill minmax(280px,1fr) → 1→3 col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C2C2C"/>
                </a:solidFill>
              </a:rPr>
              <a:t>•  Values grid · team grid · footer 3-col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C2C2C"/>
                </a:solidFill>
              </a:rPr>
              <a:t>•  Reflows automatically at breakpoints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974336"/>
            <a:ext cx="5623560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D4C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974336"/>
            <a:ext cx="54864" cy="1591056"/>
          </a:xfrm>
          <a:prstGeom prst="rect">
            <a:avLst/>
          </a:prstGeom>
          <a:solidFill>
            <a:srgbClr val="8B7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065776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2C2C"/>
                </a:solidFill>
              </a:rPr>
              <a:t>Responsive (Mobile-First)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486400"/>
            <a:ext cx="5257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>
                <a:solidFill>
                  <a:srgbClr val="2C2C2C"/>
                </a:solidFill>
              </a:rPr>
              <a:t>•  Base styles: 375px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C2C2C"/>
                </a:solidFill>
              </a:rPr>
              <a:t>•  Breakpoints: 480px · 768px · 1024px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C2C2C"/>
                </a:solidFill>
              </a:rPr>
              <a:t>•  @media (min-width: …) progressive layers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27648" y="4974336"/>
            <a:ext cx="5623560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D4C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27648" y="4974336"/>
            <a:ext cx="54864" cy="1591056"/>
          </a:xfrm>
          <a:prstGeom prst="rect">
            <a:avLst/>
          </a:prstGeom>
          <a:solidFill>
            <a:srgbClr val="2A7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5065776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2C2C"/>
                </a:solidFill>
              </a:rPr>
              <a:t>Advanced CSS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5486400"/>
            <a:ext cx="5257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>
                <a:solidFill>
                  <a:srgbClr val="2C2C2C"/>
                </a:solidFill>
              </a:rPr>
              <a:t>•  position: sticky — header stays at top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C2C2C"/>
                </a:solidFill>
              </a:rPr>
              <a:t>•  tr:nth-child(even) — table zebra rows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C2C2C"/>
                </a:solidFill>
              </a:rPr>
              <a:t>•  print.css — hides nav/hero for printing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023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4C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"/>
            <a:ext cx="12188952" cy="1367028"/>
          </a:xfrm>
          <a:prstGeom prst="rect">
            <a:avLst/>
          </a:prstGeom>
          <a:solidFill>
            <a:srgbClr val="8B7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Interactivity — Menu Page  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59536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DD5FF"/>
                </a:solidFill>
              </a:rPr>
              <a:t>20 drinks · search · filter · modal · cart · favorites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4C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36192"/>
            <a:ext cx="6858000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D4C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36192"/>
            <a:ext cx="54864" cy="4864608"/>
          </a:xfrm>
          <a:prstGeom prst="rect">
            <a:avLst/>
          </a:prstGeom>
          <a:solidFill>
            <a:srgbClr val="8B7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64208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2467A"/>
                </a:solidFill>
              </a:rPr>
              <a:t>What it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6492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2C2C2C"/>
                </a:solidFill>
              </a:rPr>
              <a:t>•  20 drinks stored as JS array of objects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2C2C2C"/>
                </a:solidFill>
              </a:rPr>
              <a:t>•  renderCards() builds all DOM dynamically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2C2C2C"/>
                </a:solidFill>
              </a:rPr>
              <a:t>•  Filter tabs — ARIA tablist/tab pattern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2C2C2C"/>
                </a:solidFill>
              </a:rPr>
              <a:t>•  Live search — 300ms debounce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2C2C2C"/>
                </a:solidFill>
              </a:rPr>
              <a:t>•  Modal — focus trap · Escape · aria-labelledby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2C2C2C"/>
                </a:solidFill>
              </a:rPr>
              <a:t>•  Cart — sessionStorage persists across pages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2C2C2C"/>
                </a:solidFill>
              </a:rPr>
              <a:t>•  Favorites — localStorage · greets you by name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2C2C2C"/>
                </a:solidFill>
              </a:rPr>
              <a:t>•  Listen — Web Speech API reads descriptions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1536192"/>
            <a:ext cx="4251960" cy="2834640"/>
          </a:xfrm>
          <a:prstGeom prst="rect">
            <a:avLst/>
          </a:prstGeom>
          <a:solidFill>
            <a:srgbClr val="1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2" y="16459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8E6D5"/>
                </a:solidFill>
              </a:rPr>
              <a:t>// 300ms debounce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62672" y="1965960"/>
            <a:ext cx="3931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EE9C2"/>
                </a:solidFill>
                <a:latin typeface="Courier New"/>
              </a:rPr>
              <a:t>let timer;
searchInput.addEventListener('input',
 () =&gt; {
   clearTimeout(timer);
   timer = setTimeout(() =&gt; {
     searchQuery = input.value
       .trim().toLowerCase();
     applyFilters();
   }, 300);
 }
);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4498848"/>
            <a:ext cx="4251960" cy="1901952"/>
          </a:xfrm>
          <a:prstGeom prst="rect">
            <a:avLst/>
          </a:prstGeom>
          <a:solidFill>
            <a:srgbClr val="FFFFFF"/>
          </a:solidFill>
          <a:ln w="6350">
            <a:solidFill>
              <a:srgbClr val="D4C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98079" y="4498848"/>
            <a:ext cx="54864" cy="1901952"/>
          </a:xfrm>
          <a:prstGeom prst="rect">
            <a:avLst/>
          </a:prstGeom>
          <a:solidFill>
            <a:srgbClr val="2A7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4626864"/>
            <a:ext cx="3886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A7A58"/>
                </a:solidFill>
              </a:rPr>
              <a:t>Progressive Enhancement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5047488"/>
            <a:ext cx="3886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2C2C2C"/>
                </a:solidFill>
              </a:rPr>
              <a:t>•  loading='lazy' on all images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C2C2C"/>
                </a:solidFill>
              </a:rPr>
              <a:t>•  Search shows all drinks if JS fails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C2C2C"/>
                </a:solidFill>
              </a:rPr>
              <a:t>•  Form submits without JS (server validates)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023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4C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"/>
            <a:ext cx="12188952" cy="1367028"/>
          </a:xfrm>
          <a:prstGeom prst="rect">
            <a:avLst/>
          </a:prstGeom>
          <a:solidFill>
            <a:srgbClr val="8B7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Accessibility — WCAG POUR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04672"/>
            <a:ext cx="1531620" cy="237744"/>
          </a:xfrm>
          <a:prstGeom prst="rect">
            <a:avLst/>
          </a:prstGeom>
          <a:solidFill>
            <a:srgbClr val="F4C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52467A"/>
                </a:solidFill>
              </a:rPr>
              <a:t>Week 3 · 30 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4C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36192"/>
            <a:ext cx="5623560" cy="2304288"/>
          </a:xfrm>
          <a:prstGeom prst="rect">
            <a:avLst/>
          </a:prstGeom>
          <a:solidFill>
            <a:srgbClr val="FFFFFF"/>
          </a:solidFill>
          <a:ln w="6350">
            <a:solidFill>
              <a:srgbClr val="D4C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36192"/>
            <a:ext cx="54864" cy="2304288"/>
          </a:xfrm>
          <a:prstGeom prst="rect">
            <a:avLst/>
          </a:prstGeom>
          <a:solidFill>
            <a:srgbClr val="8B7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C2C2C"/>
                </a:solidFill>
              </a:rPr>
              <a:t>Perceivable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52578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C2C2C"/>
                </a:solidFill>
              </a:rPr>
              <a:t>•  Alt text on all images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C2C2C"/>
                </a:solidFill>
              </a:rPr>
              <a:t>•  Color contrast ≥ 4.5:1 for body text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C2C2C"/>
                </a:solidFill>
              </a:rPr>
              <a:t>•  aria-live on cart count, errors, results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27648" y="1536192"/>
            <a:ext cx="5623560" cy="2304288"/>
          </a:xfrm>
          <a:prstGeom prst="rect">
            <a:avLst/>
          </a:prstGeom>
          <a:solidFill>
            <a:srgbClr val="FFFFFF"/>
          </a:solidFill>
          <a:ln w="6350">
            <a:solidFill>
              <a:srgbClr val="D4C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27648" y="1536192"/>
            <a:ext cx="54864" cy="2304288"/>
          </a:xfrm>
          <a:prstGeom prst="rect">
            <a:avLst/>
          </a:prstGeom>
          <a:solidFill>
            <a:srgbClr val="2A7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1645920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C2C2C"/>
                </a:solidFill>
              </a:rPr>
              <a:t>Operable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121408"/>
            <a:ext cx="52578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C2C2C"/>
                </a:solidFill>
              </a:rPr>
              <a:t>•  Skip-to-content link on every page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C2C2C"/>
                </a:solidFill>
              </a:rPr>
              <a:t>•  Full keyboard navigation (Tab/Enter/Esc)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C2C2C"/>
                </a:solidFill>
              </a:rPr>
              <a:t>•  Focus trap inside modal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986784"/>
            <a:ext cx="5623560" cy="2304288"/>
          </a:xfrm>
          <a:prstGeom prst="rect">
            <a:avLst/>
          </a:prstGeom>
          <a:solidFill>
            <a:srgbClr val="FFFFFF"/>
          </a:solidFill>
          <a:ln w="6350">
            <a:solidFill>
              <a:srgbClr val="D4C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986784"/>
            <a:ext cx="54864" cy="2304288"/>
          </a:xfrm>
          <a:prstGeom prst="rect">
            <a:avLst/>
          </a:prstGeom>
          <a:solidFill>
            <a:srgbClr val="B06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096512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C2C2C"/>
                </a:solidFill>
              </a:rPr>
              <a:t>Understandable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572000"/>
            <a:ext cx="52578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C2C2C"/>
                </a:solidFill>
              </a:rPr>
              <a:t>•  lang='en' on &lt;html&gt;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C2C2C"/>
                </a:solidFill>
              </a:rPr>
              <a:t>•  aria-current='page' on active nav link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C2C2C"/>
                </a:solidFill>
              </a:rPr>
              <a:t>•  aria-describedby links inputs to errors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27648" y="3986784"/>
            <a:ext cx="5623560" cy="2304288"/>
          </a:xfrm>
          <a:prstGeom prst="rect">
            <a:avLst/>
          </a:prstGeom>
          <a:solidFill>
            <a:srgbClr val="FFFFFF"/>
          </a:solidFill>
          <a:ln w="6350">
            <a:solidFill>
              <a:srgbClr val="D4C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27648" y="3986784"/>
            <a:ext cx="54864" cy="2304288"/>
          </a:xfrm>
          <a:prstGeom prst="rect">
            <a:avLst/>
          </a:prstGeom>
          <a:solidFill>
            <a:srgbClr val="524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4096512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C2C2C"/>
                </a:solidFill>
              </a:rPr>
              <a:t>Robust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4572000"/>
            <a:ext cx="52578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C2C2C"/>
                </a:solidFill>
              </a:rPr>
              <a:t>•  Semantic &lt;button&gt; — never &lt;div onclick&gt;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C2C2C"/>
                </a:solidFill>
              </a:rPr>
              <a:t>•  role=dialog · aria-modal on overlay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C2C2C"/>
                </a:solidFill>
              </a:rPr>
              <a:t>•  role=tablist/tab on filter buttons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023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4C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"/>
            <a:ext cx="12188952" cy="1367028"/>
          </a:xfrm>
          <a:prstGeom prst="rect">
            <a:avLst/>
          </a:prstGeom>
          <a:solidFill>
            <a:srgbClr val="8B7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Contact Form &amp;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04672"/>
            <a:ext cx="1531620" cy="237744"/>
          </a:xfrm>
          <a:prstGeom prst="rect">
            <a:avLst/>
          </a:prstGeom>
          <a:solidFill>
            <a:srgbClr val="F4C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52467A"/>
                </a:solidFill>
              </a:rPr>
              <a:t>Week 3 · 30 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4C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36192"/>
            <a:ext cx="5120640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D4C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36192"/>
            <a:ext cx="54864" cy="4864608"/>
          </a:xfrm>
          <a:prstGeom prst="rect">
            <a:avLst/>
          </a:prstGeom>
          <a:solidFill>
            <a:srgbClr val="8B7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6420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2467A"/>
                </a:solidFill>
              </a:rPr>
              <a:t>All Input Types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C2C2C"/>
                </a:solidFill>
              </a:rPr>
              <a:t>•  text — full name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C2C2C"/>
                </a:solidFill>
              </a:rPr>
              <a:t>•  email — address with regex check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C2C2C"/>
                </a:solidFill>
              </a:rPr>
              <a:t>•  tel — phone (optional)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C2C2C"/>
                </a:solidFill>
              </a:rPr>
              <a:t>•  radio — inquiry type (pill selector)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C2C2C"/>
                </a:solidFill>
              </a:rPr>
              <a:t>•  checkbox — 'how did you find us?'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C2C2C"/>
                </a:solidFill>
              </a:rPr>
              <a:t>•  select — preferred location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C2C2C"/>
                </a:solidFill>
              </a:rPr>
              <a:t>•  textarea — message, 500-char limit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C2C2C"/>
                </a:solidFill>
              </a:rPr>
              <a:t>•  fieldset + legend on both groups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1536192"/>
            <a:ext cx="598932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4C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60720" y="1536192"/>
            <a:ext cx="54864" cy="2194560"/>
          </a:xfrm>
          <a:prstGeom prst="rect">
            <a:avLst/>
          </a:prstGeom>
          <a:solidFill>
            <a:srgbClr val="2A7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1664208"/>
            <a:ext cx="5623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A7A58"/>
                </a:solidFill>
              </a:rPr>
              <a:t>Live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103120"/>
            <a:ext cx="5623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C2C2C"/>
                </a:solidFill>
              </a:rPr>
              <a:t>•  novalidate — JS handles all validation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2C2C"/>
                </a:solidFill>
              </a:rPr>
              <a:t>•  blur event: validate when user leaves field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2C2C"/>
                </a:solidFill>
              </a:rPr>
              <a:t>•  input event: clear error as user types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2C2C"/>
                </a:solidFill>
              </a:rPr>
              <a:t>•  aria-describedby links input → error span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720" y="3858768"/>
            <a:ext cx="5989320" cy="2542032"/>
          </a:xfrm>
          <a:prstGeom prst="rect">
            <a:avLst/>
          </a:prstGeom>
          <a:solidFill>
            <a:srgbClr val="FFFFFF"/>
          </a:solidFill>
          <a:ln w="6350">
            <a:solidFill>
              <a:srgbClr val="D4C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60720" y="3858768"/>
            <a:ext cx="54864" cy="2542032"/>
          </a:xfrm>
          <a:prstGeom prst="rect">
            <a:avLst/>
          </a:prstGeom>
          <a:solidFill>
            <a:srgbClr val="8B7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3986784"/>
            <a:ext cx="5623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2467A"/>
                </a:solidFill>
              </a:rPr>
              <a:t>Submit Experience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4480560"/>
            <a:ext cx="5486400" cy="310896"/>
          </a:xfrm>
          <a:prstGeom prst="rect">
            <a:avLst/>
          </a:prstGeom>
          <a:solidFill>
            <a:srgbClr val="EC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449884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Click 'Send Message'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4828032"/>
            <a:ext cx="5486400" cy="310896"/>
          </a:xfrm>
          <a:prstGeom prst="rect">
            <a:avLst/>
          </a:prstGeom>
          <a:solidFill>
            <a:srgbClr val="EC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48463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JS validates all fields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5175504"/>
            <a:ext cx="5486400" cy="310896"/>
          </a:xfrm>
          <a:prstGeom prst="rect">
            <a:avLst/>
          </a:prstGeom>
          <a:solidFill>
            <a:srgbClr val="F8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519379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0000"/>
                </a:solidFill>
              </a:rPr>
              <a:t>❌  Shake button + scroll to error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5522976"/>
            <a:ext cx="5486400" cy="310896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554126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7A58"/>
                </a:solidFill>
              </a:rPr>
              <a:t>✅  Spinner: 'Sending…' (1.4 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5870448"/>
            <a:ext cx="5486400" cy="310896"/>
          </a:xfrm>
          <a:prstGeom prst="rect">
            <a:avLst/>
          </a:prstGeom>
          <a:solidFill>
            <a:srgbClr val="D4C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588873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2467A"/>
                </a:solidFill>
              </a:rPr>
              <a:t>Typewriter: 'Hey Kim! …'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023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4C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"/>
            <a:ext cx="12188952" cy="1367028"/>
          </a:xfrm>
          <a:prstGeom prst="rect">
            <a:avLst/>
          </a:prstGeom>
          <a:solidFill>
            <a:srgbClr val="8B7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Locations — Accessible Data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59536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DD5FF"/>
                </a:solidFill>
              </a:rPr>
              <a:t>Semantic table markup · CSS styling · JavaScript enhancement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4C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36192"/>
            <a:ext cx="5120640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D4C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36192"/>
            <a:ext cx="54864" cy="4864608"/>
          </a:xfrm>
          <a:prstGeom prst="rect">
            <a:avLst/>
          </a:prstGeom>
          <a:solidFill>
            <a:srgbClr val="2A7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6420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A7A58"/>
                </a:solidFill>
              </a:rPr>
              <a:t>Table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2C2C2C"/>
                </a:solidFill>
              </a:rPr>
              <a:t>•  &lt;caption&gt; names the table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C2C2C"/>
                </a:solidFill>
              </a:rPr>
              <a:t>•  &lt;th scope='col'&gt; — Day, Downtown, Campus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C2C2C"/>
                </a:solidFill>
              </a:rPr>
              <a:t>•  &lt;th scope='row'&gt; — each day of the week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C2C2C"/>
                </a:solidFill>
              </a:rPr>
              <a:t>•  Screen readers: 'Monday, Downtown: 9AM–9PM'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C2C2C"/>
                </a:solidFill>
              </a:rPr>
              <a:t>•  Zebra rows: tr:nth-child(even)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C2C2C"/>
                </a:solidFill>
              </a:rPr>
              <a:t>•  Today's row: new Date().getDay() → pink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C2C2C"/>
                </a:solidFill>
              </a:rPr>
              <a:t>•  Location cards: Flexbox side-by-side layout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1536192"/>
            <a:ext cx="5897880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D4C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52160" y="1536192"/>
            <a:ext cx="54864" cy="4864608"/>
          </a:xfrm>
          <a:prstGeom prst="rect">
            <a:avLst/>
          </a:prstGeom>
          <a:solidFill>
            <a:srgbClr val="8B7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664208"/>
            <a:ext cx="5532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2467A"/>
                </a:solidFill>
              </a:rPr>
              <a:t>Preview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2148840"/>
            <a:ext cx="5486400" cy="347472"/>
          </a:xfrm>
          <a:prstGeom prst="rect">
            <a:avLst/>
          </a:prstGeom>
          <a:solidFill>
            <a:srgbClr val="8B7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62472" y="2167128"/>
            <a:ext cx="1691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91271" y="2167128"/>
            <a:ext cx="1691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Palo Alto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0072" y="2167128"/>
            <a:ext cx="1691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Costa Mesa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496312"/>
            <a:ext cx="5486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C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62472" y="2523744"/>
            <a:ext cx="1691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2C2C"/>
                </a:solidFill>
              </a:rPr>
              <a:t>Mon – Fri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1271" y="2523744"/>
            <a:ext cx="1691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9 AM – 9 PM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20072" y="2523744"/>
            <a:ext cx="1691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9 AM – 9 PM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2889504"/>
            <a:ext cx="5486400" cy="365760"/>
          </a:xfrm>
          <a:prstGeom prst="rect">
            <a:avLst/>
          </a:prstGeom>
          <a:solidFill>
            <a:srgbClr val="ECE9F5"/>
          </a:solidFill>
          <a:ln w="6350">
            <a:solidFill>
              <a:srgbClr val="D4C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62472" y="2916936"/>
            <a:ext cx="1691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2C2C"/>
                </a:solidFill>
              </a:rPr>
              <a:t>Saturday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91271" y="2916936"/>
            <a:ext cx="1691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10 AM – 10 PM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20072" y="2916936"/>
            <a:ext cx="1691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10 AM – 10 PM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3282696"/>
            <a:ext cx="5486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C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62472" y="3310128"/>
            <a:ext cx="1691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2C2C"/>
                </a:solidFill>
              </a:rPr>
              <a:t>Sunday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91271" y="3310128"/>
            <a:ext cx="1691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10 AM – 10 PM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0072" y="3310128"/>
            <a:ext cx="1691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10 AM – 10 PM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0" y="3675887"/>
            <a:ext cx="5486400" cy="365760"/>
          </a:xfrm>
          <a:prstGeom prst="rect">
            <a:avLst/>
          </a:prstGeom>
          <a:solidFill>
            <a:srgbClr val="F4C7D6"/>
          </a:solidFill>
          <a:ln w="6350">
            <a:solidFill>
              <a:srgbClr val="D4C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62472" y="3703319"/>
            <a:ext cx="1691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2467A"/>
                </a:solidFill>
              </a:rPr>
              <a:t>Today 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91271" y="3703319"/>
            <a:ext cx="1691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2467A"/>
                </a:solidFill>
              </a:rPr>
              <a:t>9 AM – 9 PM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20072" y="3703319"/>
            <a:ext cx="1691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2467A"/>
                </a:solidFill>
              </a:rPr>
              <a:t>9 AM – 9 PM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409651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</a:rPr>
              <a:t>★  highlighted via new Date().getDay()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0023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4C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"/>
            <a:ext cx="12188952" cy="1367028"/>
          </a:xfrm>
          <a:prstGeom prst="rect">
            <a:avLst/>
          </a:prstGeom>
          <a:solidFill>
            <a:srgbClr val="8B7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Scroll Experience — Beyond the Rubric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59536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DD5FF"/>
                </a:solidFill>
              </a:rPr>
              <a:t>Pure CSS + vanilla JS · no libraries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4C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36192"/>
            <a:ext cx="5623560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D4C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36192"/>
            <a:ext cx="54864" cy="1591056"/>
          </a:xfrm>
          <a:prstGeom prst="rect">
            <a:avLst/>
          </a:prstGeom>
          <a:solidFill>
            <a:srgbClr val="8B7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27632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2C2C"/>
                </a:solidFill>
              </a:rPr>
              <a:t>Clip-Reveal Headings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39112"/>
            <a:ext cx="5257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>
                <a:solidFill>
                  <a:srgbClr val="2C2C2C"/>
                </a:solidFill>
              </a:rPr>
              <a:t>•  overflow:hidden clips the container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C2C2C"/>
                </a:solidFill>
              </a:rPr>
              <a:t>•  Inner span: translateY(105%) → hidden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C2C2C"/>
                </a:solidFill>
              </a:rPr>
              <a:t>•  IntersectionObserver → snap to 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27648" y="1536192"/>
            <a:ext cx="5623560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D4C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27648" y="1536192"/>
            <a:ext cx="54864" cy="1591056"/>
          </a:xfrm>
          <a:prstGeom prst="rect">
            <a:avLst/>
          </a:prstGeom>
          <a:solidFill>
            <a:srgbClr val="2A7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1627632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2C2C"/>
                </a:solidFill>
              </a:rPr>
              <a:t>Word-by-Word Title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039112"/>
            <a:ext cx="5257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>
                <a:solidFill>
                  <a:srgbClr val="2C2C2C"/>
                </a:solidFill>
              </a:rPr>
              <a:t>•  JS splits h1 into one span per word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C2C2C"/>
                </a:solidFill>
              </a:rPr>
              <a:t>•  --i CSS var sets animation-delay per word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C2C2C"/>
                </a:solidFill>
              </a:rPr>
              <a:t>•  Each word rises in sequence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55263"/>
            <a:ext cx="5623560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D4C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255263"/>
            <a:ext cx="54864" cy="1591056"/>
          </a:xfrm>
          <a:prstGeom prst="rect">
            <a:avLst/>
          </a:prstGeom>
          <a:solidFill>
            <a:srgbClr val="B06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346703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2C2C"/>
                </a:solidFill>
              </a:rPr>
              <a:t>Hero Parallax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758183"/>
            <a:ext cx="5257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>
                <a:solidFill>
                  <a:srgbClr val="2C2C2C"/>
                </a:solidFill>
              </a:rPr>
              <a:t>•  Scroll event moves content at 22% speed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C2C2C"/>
                </a:solidFill>
              </a:rPr>
              <a:t>•  Opacity fades as you scroll away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C2C2C"/>
                </a:solidFill>
              </a:rPr>
              <a:t>•  8 lines of JS — zero libraries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27648" y="3255263"/>
            <a:ext cx="5623560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D4C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27648" y="3255263"/>
            <a:ext cx="54864" cy="1591056"/>
          </a:xfrm>
          <a:prstGeom prst="rect">
            <a:avLst/>
          </a:prstGeom>
          <a:solidFill>
            <a:srgbClr val="524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3346703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2C2C"/>
                </a:solidFill>
              </a:rPr>
              <a:t>3D Card Tilt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3758183"/>
            <a:ext cx="5257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>
                <a:solidFill>
                  <a:srgbClr val="2C2C2C"/>
                </a:solidFill>
              </a:rPr>
              <a:t>•  mousemove → perspective(700px) rotateX/Y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C2C2C"/>
                </a:solidFill>
              </a:rPr>
              <a:t>•  Event delegation — works on dynamic cards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C2C2C"/>
                </a:solidFill>
              </a:rPr>
              <a:t>•  Spring ease on reset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974336"/>
            <a:ext cx="5623560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D4C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974336"/>
            <a:ext cx="54864" cy="1591056"/>
          </a:xfrm>
          <a:prstGeom prst="rect">
            <a:avLst/>
          </a:prstGeom>
          <a:solidFill>
            <a:srgbClr val="2A7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065776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2C2C"/>
                </a:solidFill>
              </a:rPr>
              <a:t>Staggered Entrance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477256"/>
            <a:ext cx="5257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>
                <a:solidFill>
                  <a:srgbClr val="2C2C2C"/>
                </a:solidFill>
              </a:rPr>
              <a:t>•  --stagger-i injected on grid children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C2C2C"/>
                </a:solidFill>
              </a:rPr>
              <a:t>•  transition-delay: calc(i * 0.12s)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C2C2C"/>
                </a:solidFill>
              </a:rPr>
              <a:t>•  Wave cascade effect on scroll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27648" y="4974336"/>
            <a:ext cx="5623560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D4C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27648" y="4974336"/>
            <a:ext cx="54864" cy="1591056"/>
          </a:xfrm>
          <a:prstGeom prst="rect">
            <a:avLst/>
          </a:prstGeom>
          <a:solidFill>
            <a:srgbClr val="8B7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5065776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2C2C"/>
                </a:solidFill>
              </a:rPr>
              <a:t>Count-Up Stats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5477256"/>
            <a:ext cx="5257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>
                <a:solidFill>
                  <a:srgbClr val="2C2C2C"/>
                </a:solidFill>
              </a:rPr>
              <a:t>•  IntersectionObserver triggers on stat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C2C2C"/>
                </a:solidFill>
              </a:rPr>
              <a:t>•  requestAnimationFrame loop 0→target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C2C2C"/>
                </a:solidFill>
              </a:rPr>
              <a:t>•  Cubic ease-out for natural deceleration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023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4C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"/>
            <a:ext cx="12188952" cy="1367028"/>
          </a:xfrm>
          <a:prstGeom prst="rect">
            <a:avLst/>
          </a:prstGeom>
          <a:solidFill>
            <a:srgbClr val="8B7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Key Design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59536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DD5FF"/>
                </a:solidFill>
              </a:rPr>
              <a:t>The reasoning behind the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4C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36192"/>
            <a:ext cx="5623560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D4C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36192"/>
            <a:ext cx="54864" cy="1591056"/>
          </a:xfrm>
          <a:prstGeom prst="rect">
            <a:avLst/>
          </a:prstGeom>
          <a:solidFill>
            <a:srgbClr val="8B7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27632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C2C2C"/>
                </a:solidFill>
              </a:rPr>
              <a:t>No frameworks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399"/>
            <a:ext cx="5257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2C2C2C"/>
                </a:solidFill>
              </a:rPr>
              <a:t>•  Shows real DOM/event/state mastery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C2C2C"/>
                </a:solidFill>
              </a:rPr>
              <a:t>•  Frameworks hide what the rubric tests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27648" y="1536192"/>
            <a:ext cx="5623560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D4C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27648" y="1536192"/>
            <a:ext cx="54864" cy="1591056"/>
          </a:xfrm>
          <a:prstGeom prst="rect">
            <a:avLst/>
          </a:prstGeom>
          <a:solidFill>
            <a:srgbClr val="2A7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1627632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C2C2C"/>
                </a:solidFill>
              </a:rPr>
              <a:t>Design system 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057399"/>
            <a:ext cx="5257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2C2C2C"/>
                </a:solidFill>
              </a:rPr>
              <a:t>•  All 5 pages consistent automatically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C2C2C"/>
                </a:solidFill>
              </a:rPr>
              <a:t>•  One token change updates everything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536192"/>
            <a:ext cx="5623560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D4C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536192"/>
            <a:ext cx="54864" cy="1591056"/>
          </a:xfrm>
          <a:prstGeom prst="rect">
            <a:avLst/>
          </a:prstGeom>
          <a:solidFill>
            <a:srgbClr val="B06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1627632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C2C2C"/>
                </a:solidFill>
              </a:rPr>
              <a:t>sessionStorage vs localStorage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057399"/>
            <a:ext cx="5257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2C2C2C"/>
                </a:solidFill>
              </a:rPr>
              <a:t>•  Cart clears on session end (correct)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C2C2C"/>
                </a:solidFill>
              </a:rPr>
              <a:t>•  Favorites persist — personalization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27648" y="3255263"/>
            <a:ext cx="5623560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D4C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27648" y="3255263"/>
            <a:ext cx="54864" cy="1591056"/>
          </a:xfrm>
          <a:prstGeom prst="rect">
            <a:avLst/>
          </a:prstGeom>
          <a:solidFill>
            <a:srgbClr val="524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3346703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C2C2C"/>
                </a:solidFill>
              </a:rPr>
              <a:t>Data array drives the menu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3776470"/>
            <a:ext cx="5257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2C2C2C"/>
                </a:solidFill>
              </a:rPr>
              <a:t>•  renderCards() = pure function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C2C2C"/>
                </a:solidFill>
              </a:rPr>
              <a:t>•  Add a drink = one JS object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255263"/>
            <a:ext cx="5623560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D4C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255263"/>
            <a:ext cx="54864" cy="1591056"/>
          </a:xfrm>
          <a:prstGeom prst="rect">
            <a:avLst/>
          </a:prstGeom>
          <a:solidFill>
            <a:srgbClr val="8B7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346703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C2C2C"/>
                </a:solidFill>
              </a:rPr>
              <a:t>Progressive enhancement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776470"/>
            <a:ext cx="5257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2C2C2C"/>
                </a:solidFill>
              </a:rPr>
              <a:t>•  Form works without JavaScript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C2C2C"/>
                </a:solidFill>
              </a:rPr>
              <a:t>•  JS layers on top — not required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27648" y="3255263"/>
            <a:ext cx="5623560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D4C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27648" y="3255263"/>
            <a:ext cx="54864" cy="1591056"/>
          </a:xfrm>
          <a:prstGeom prst="rect">
            <a:avLst/>
          </a:prstGeom>
          <a:solidFill>
            <a:srgbClr val="2A7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3346703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C2C2C"/>
                </a:solidFill>
              </a:rPr>
              <a:t>ARIA designed 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3776470"/>
            <a:ext cx="5257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2C2C2C"/>
                </a:solidFill>
              </a:rPr>
              <a:t>•  Not retrofitted — built into structure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C2C2C"/>
                </a:solidFill>
              </a:rPr>
              <a:t>•  JS manages dynamic ARIA states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023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4C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"/>
            <a:ext cx="12188952" cy="1367028"/>
          </a:xfrm>
          <a:prstGeom prst="rect">
            <a:avLst/>
          </a:prstGeom>
          <a:solidFill>
            <a:srgbClr val="8B7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Performance &amp; Documentation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04672"/>
            <a:ext cx="1531620" cy="237744"/>
          </a:xfrm>
          <a:prstGeom prst="rect">
            <a:avLst/>
          </a:prstGeom>
          <a:solidFill>
            <a:srgbClr val="F4C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52467A"/>
                </a:solidFill>
              </a:rPr>
              <a:t>Week 4 · 20 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4C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36192"/>
            <a:ext cx="5440680" cy="4864608"/>
          </a:xfrm>
          <a:prstGeom prst="rect">
            <a:avLst/>
          </a:prstGeom>
          <a:solidFill>
            <a:srgbClr val="FFFFFF"/>
          </a:solidFill>
          <a:ln w="6350">
            <a:solidFill>
              <a:srgbClr val="D4C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36192"/>
            <a:ext cx="54864" cy="4864608"/>
          </a:xfrm>
          <a:prstGeom prst="rect">
            <a:avLst/>
          </a:prstGeom>
          <a:solidFill>
            <a:srgbClr val="8B7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6420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2467A"/>
                </a:solidFill>
              </a:rPr>
              <a:t>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5074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C2C2C"/>
                </a:solidFill>
              </a:rPr>
              <a:t>•  loading='lazy' on every image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C2C2C"/>
                </a:solidFill>
              </a:rPr>
              <a:t>•  Unsplash: ?w=600&amp;q=80 (server resize)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C2C2C"/>
                </a:solidFill>
              </a:rPr>
              <a:t>•  { passive: true } on scroll/mousemove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C2C2C"/>
                </a:solidFill>
              </a:rPr>
              <a:t>•  CSS transform/opacity only — no reflow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C2C2C"/>
                </a:solidFill>
              </a:rPr>
              <a:t>•  unobserve() after first trigger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C2C2C"/>
                </a:solidFill>
              </a:rPr>
              <a:t>•  All JS loaded at end of &lt;body&gt;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536192"/>
            <a:ext cx="566928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4C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0760" y="1536192"/>
            <a:ext cx="54864" cy="2331720"/>
          </a:xfrm>
          <a:prstGeom prst="rect">
            <a:avLst/>
          </a:prstGeom>
          <a:solidFill>
            <a:srgbClr val="2A7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66420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A7A58"/>
                </a:solidFill>
              </a:rPr>
              <a:t>README.md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103120"/>
            <a:ext cx="5303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2C2C2C"/>
                </a:solidFill>
              </a:rPr>
              <a:t>•  Setup: open .html in browser — zero build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C2C2C"/>
                </a:solidFill>
              </a:rPr>
              <a:t>•  Features per page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C2C2C"/>
                </a:solidFill>
              </a:rPr>
              <a:t>•  Accessibility considerations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C2C2C"/>
                </a:solidFill>
              </a:rPr>
              <a:t>•  Known limitations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4005072"/>
            <a:ext cx="5669280" cy="2395728"/>
          </a:xfrm>
          <a:prstGeom prst="rect">
            <a:avLst/>
          </a:prstGeom>
          <a:solidFill>
            <a:srgbClr val="FFFFFF"/>
          </a:solidFill>
          <a:ln w="6350">
            <a:solidFill>
              <a:srgbClr val="D4C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0760" y="4005072"/>
            <a:ext cx="54864" cy="2395728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4133087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06800"/>
                </a:solidFill>
              </a:rPr>
              <a:t>Design Dossier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4572000"/>
            <a:ext cx="530352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2C2C2C"/>
                </a:solidFill>
              </a:rPr>
              <a:t>•  Audience + persona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C2C2C"/>
                </a:solidFill>
              </a:rPr>
              <a:t>•  Site map + wireframes (desktop &amp; mobile)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C2C2C"/>
                </a:solidFill>
              </a:rPr>
              <a:t>•  Color palette with contrast rationale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C2C2C"/>
                </a:solidFill>
              </a:rPr>
              <a:t>•  Accessibility checklist + fixes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023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4C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"/>
            <a:ext cx="12188952" cy="1367028"/>
          </a:xfrm>
          <a:prstGeom prst="rect">
            <a:avLst/>
          </a:prstGeom>
          <a:solidFill>
            <a:srgbClr val="8B7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Challenges &amp; What I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4C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36192"/>
            <a:ext cx="5623560" cy="2304288"/>
          </a:xfrm>
          <a:prstGeom prst="rect">
            <a:avLst/>
          </a:prstGeom>
          <a:solidFill>
            <a:srgbClr val="FFFFFF"/>
          </a:solidFill>
          <a:ln w="6350">
            <a:solidFill>
              <a:srgbClr val="D4C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36192"/>
            <a:ext cx="54864" cy="2304288"/>
          </a:xfrm>
          <a:prstGeom prst="rect">
            <a:avLst/>
          </a:prstGeom>
          <a:solidFill>
            <a:srgbClr val="8B7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C2C2C"/>
                </a:solidFill>
              </a:rPr>
              <a:t>Design system before pages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39696"/>
            <a:ext cx="52578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</a:rPr>
              <a:t>Forcing every value through CSS tokens felt slow at first — then the 5th page took 20% of the time the 1st did.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27648" y="1536192"/>
            <a:ext cx="5623560" cy="2304288"/>
          </a:xfrm>
          <a:prstGeom prst="rect">
            <a:avLst/>
          </a:prstGeom>
          <a:solidFill>
            <a:srgbClr val="FFFFFF"/>
          </a:solidFill>
          <a:ln w="6350">
            <a:solidFill>
              <a:srgbClr val="D4C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27648" y="1536192"/>
            <a:ext cx="54864" cy="2304288"/>
          </a:xfrm>
          <a:prstGeom prst="rect">
            <a:avLst/>
          </a:prstGeom>
          <a:solidFill>
            <a:srgbClr val="2A7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645920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C2C2C"/>
                </a:solidFill>
              </a:rPr>
              <a:t>Accessibility is 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139696"/>
            <a:ext cx="52578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</a:rPr>
              <a:t>Focus traps, scope attributes, ARIA live regions can't be added at the end. They have to be in the HTML from the start.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86784"/>
            <a:ext cx="5623560" cy="2304288"/>
          </a:xfrm>
          <a:prstGeom prst="rect">
            <a:avLst/>
          </a:prstGeom>
          <a:solidFill>
            <a:srgbClr val="FFFFFF"/>
          </a:solidFill>
          <a:ln w="6350">
            <a:solidFill>
              <a:srgbClr val="D4C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986784"/>
            <a:ext cx="54864" cy="2304288"/>
          </a:xfrm>
          <a:prstGeom prst="rect">
            <a:avLst/>
          </a:prstGeom>
          <a:solidFill>
            <a:srgbClr val="B06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096512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C2C2C"/>
                </a:solidFill>
              </a:rPr>
              <a:t>Real bugs teach real concepts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590288"/>
            <a:ext cx="52578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</a:rPr>
              <a:t>A top-level return in strict mode silently kills the whole script. Debugging that taught me more than any tutorial.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27648" y="3986784"/>
            <a:ext cx="5623560" cy="2304288"/>
          </a:xfrm>
          <a:prstGeom prst="rect">
            <a:avLst/>
          </a:prstGeom>
          <a:solidFill>
            <a:srgbClr val="FFFFFF"/>
          </a:solidFill>
          <a:ln w="6350">
            <a:solidFill>
              <a:srgbClr val="D4CE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27648" y="3986784"/>
            <a:ext cx="54864" cy="2304288"/>
          </a:xfrm>
          <a:prstGeom prst="rect">
            <a:avLst/>
          </a:prstGeom>
          <a:solidFill>
            <a:srgbClr val="524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4096512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C2C2C"/>
                </a:solidFill>
              </a:rPr>
              <a:t>Event delegation handles the future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4590288"/>
            <a:ext cx="52578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</a:rPr>
              <a:t>Attaching listeners to document.closest('.card') works for cards that don't exist yet — because menu.js generates them dynamically.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023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B7BB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280160" y="2286000"/>
            <a:ext cx="5486400" cy="5486400"/>
          </a:xfrm>
          <a:prstGeom prst="ellipse">
            <a:avLst/>
          </a:prstGeom>
          <a:solidFill>
            <a:srgbClr val="7A6A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18320" y="-822960"/>
            <a:ext cx="3474720" cy="3474720"/>
          </a:xfrm>
          <a:prstGeom prst="ellipse">
            <a:avLst/>
          </a:prstGeom>
          <a:solidFill>
            <a:srgbClr val="7A6A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5303520"/>
            <a:ext cx="2377440" cy="2377440"/>
          </a:xfrm>
          <a:prstGeom prst="ellipse">
            <a:avLst/>
          </a:prstGeom>
          <a:solidFill>
            <a:srgbClr val="F4C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91440" y="182880"/>
            <a:ext cx="1097280" cy="1097280"/>
          </a:xfrm>
          <a:prstGeom prst="ellipse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0584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1" i="0">
                <a:solidFill>
                  <a:srgbClr val="FFFFFF"/>
                </a:solidFill>
              </a:rPr>
              <a:t>Let's see it live.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4C7D6"/>
                </a:solidFill>
              </a:rPr>
              <a:t>Questions welcome  🧋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749039"/>
            <a:ext cx="9418320" cy="1691640"/>
          </a:xfrm>
          <a:prstGeom prst="rect">
            <a:avLst/>
          </a:prstGeom>
          <a:solidFill>
            <a:srgbClr val="625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72768" y="38587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C7D6"/>
                </a:solidFill>
              </a:rPr>
              <a:t>Demo order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4251960"/>
            <a:ext cx="9052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FFFFFF"/>
                </a:solidFill>
              </a:rPr>
              <a:t>•  Home → scroll to see clip-reveal + parallax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FFFFFF"/>
                </a:solidFill>
              </a:rPr>
              <a:t>•  Menu → search · filter · open card · add to cart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FFFFFF"/>
                </a:solidFill>
              </a:rPr>
              <a:t>•  Contact → fill form · submit → typewriter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FFFFFF"/>
                </a:solidFill>
              </a:rPr>
              <a:t>•  Locations → today's row highlighted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03504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0FF"/>
                </a:solidFill>
              </a:rPr>
              <a:t>Kim Ke  ·  Sofia University  ·  Web Development  ·  Winter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4C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